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2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topographic contour lines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6583680" y="-1463040"/>
            <a:ext cx="6949440" cy="6949440"/>
          </a:xfrm>
          <a:prstGeom prst="rect">
            <a:avLst/>
          </a:prstGeom>
        </p:spPr>
      </p:pic>
      <p:pic>
        <p:nvPicPr>
          <p:cNvPr id="3" name="Image 1" descr="Decorative forest silhouet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97880"/>
            <a:ext cx="12191695" cy="960120"/>
          </a:xfrm>
          <a:prstGeom prst="rect">
            <a:avLst/>
          </a:prstGeom>
        </p:spPr>
      </p:pic>
      <p:sp>
        <p:nvSpPr>
          <p:cNvPr id="4" name="Cover title"/>
          <p:cNvSpPr txBox="1"/>
          <p:nvPr/>
        </p:nvSpPr>
        <p:spPr>
          <a:xfrm>
            <a:off x="73152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dirty="0">
                <a:solidFill>
                  <a:srgbClr val="F6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CHHATTISGARH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77724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spc="200" kern="0" dirty="0">
                <a:solidFill>
                  <a:srgbClr val="C3A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FORMAL SURVEY REPORT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777240" y="2926080"/>
            <a:ext cx="36576" cy="868680"/>
          </a:xfrm>
          <a:prstGeom prst="rect">
            <a:avLst/>
          </a:prstGeom>
          <a:solidFill>
            <a:srgbClr val="C3A56B"/>
          </a:solidFill>
          <a:ln w="12700">
            <a:solidFill>
              <a:srgbClr val="C3A56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005840" y="29260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 •  Environment  •  Lifestyle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 •  Development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069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A7B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Ancient name: Dakshin Kosala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7863840" y="2011680"/>
            <a:ext cx="3749040" cy="3063240"/>
          </a:xfrm>
          <a:prstGeom prst="rect">
            <a:avLst/>
          </a:prstGeom>
          <a:solidFill>
            <a:srgbClr val="102C26">
              <a:alpha val="85000"/>
            </a:srgbClr>
          </a:solidFill>
          <a:ln w="12700">
            <a:solidFill>
              <a:srgbClr val="102C2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863840" y="2011680"/>
            <a:ext cx="36576" cy="3063240"/>
          </a:xfrm>
          <a:prstGeom prst="rect">
            <a:avLst/>
          </a:prstGeom>
          <a:solidFill>
            <a:srgbClr val="C3A56B"/>
          </a:solidFill>
          <a:ln w="12700">
            <a:solidFill>
              <a:srgbClr val="C3A56B"/>
            </a:solidFill>
            <a:prstDash val="solid"/>
          </a:ln>
        </p:spPr>
      </p:sp>
      <p:sp>
        <p:nvSpPr>
          <p:cNvPr id="11" name="s01-b06"/>
          <p:cNvSpPr txBox="1"/>
          <p:nvPr/>
        </p:nvSpPr>
        <p:spPr>
          <a:xfrm>
            <a:off x="8138160" y="2194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3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</a:t>
            </a:r>
            <a:pPr indent="0" marL="0">
              <a:buNone/>
            </a:pPr>
            <a:r>
              <a:rPr lang="en-US" sz="13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Neelam Patel</a:t>
            </a:r>
            <a:endParaRPr lang="en-US" sz="1300" dirty="0"/>
          </a:p>
        </p:txBody>
      </p:sp>
      <p:sp>
        <p:nvSpPr>
          <p:cNvPr id="12" name="s01-b07"/>
          <p:cNvSpPr txBox="1"/>
          <p:nvPr/>
        </p:nvSpPr>
        <p:spPr>
          <a:xfrm>
            <a:off x="8138160" y="2743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3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</a:t>
            </a:r>
            <a:pPr indent="0" marL="0">
              <a:buNone/>
            </a:pPr>
            <a:r>
              <a:rPr lang="en-US" sz="13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Brainy Bunch</a:t>
            </a:r>
            <a:endParaRPr lang="en-US" sz="1300" dirty="0"/>
          </a:p>
        </p:txBody>
      </p:sp>
      <p:sp>
        <p:nvSpPr>
          <p:cNvPr id="13" name="s01-b08"/>
          <p:cNvSpPr txBox="1"/>
          <p:nvPr/>
        </p:nvSpPr>
        <p:spPr>
          <a:xfrm>
            <a:off x="8138160" y="3291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3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/ Section:</a:t>
            </a:r>
            <a:pPr indent="0" marL="0">
              <a:buNone/>
            </a:pPr>
            <a:r>
              <a:rPr lang="en-US" sz="13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CSE, Section A2</a:t>
            </a:r>
            <a:endParaRPr lang="en-US" sz="1300" dirty="0"/>
          </a:p>
        </p:txBody>
      </p:sp>
      <p:sp>
        <p:nvSpPr>
          <p:cNvPr id="14" name="s01-b09"/>
          <p:cNvSpPr txBox="1"/>
          <p:nvPr/>
        </p:nvSpPr>
        <p:spPr>
          <a:xfrm>
            <a:off x="8138160" y="3840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3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pPr indent="0" marL="0">
              <a:buNone/>
            </a:pPr>
            <a:r>
              <a:rPr lang="en-US" sz="13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Rural Immersion and Innovation</a:t>
            </a:r>
            <a:endParaRPr lang="en-US" sz="1300" dirty="0"/>
          </a:p>
        </p:txBody>
      </p:sp>
      <p:sp>
        <p:nvSpPr>
          <p:cNvPr id="15" name="s01-b10"/>
          <p:cNvSpPr txBox="1"/>
          <p:nvPr/>
        </p:nvSpPr>
        <p:spPr>
          <a:xfrm>
            <a:off x="8138160" y="4389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3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</a:t>
            </a:r>
            <a:pPr indent="0" marL="0">
              <a:buNone/>
            </a:pPr>
            <a:r>
              <a:rPr lang="en-US" sz="13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Mrs Tanvi Nandi Ma'am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9052560" y="5349240"/>
            <a:ext cx="2560320" cy="365760"/>
          </a:xfrm>
          <a:prstGeom prst="rect">
            <a:avLst/>
          </a:prstGeom>
          <a:solidFill>
            <a:srgbClr val="C3A56B"/>
          </a:solidFill>
          <a:ln w="12700">
            <a:solidFill>
              <a:srgbClr val="C3A56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052560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02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73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 / CONTENTS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731520" cy="45720"/>
          </a:xfrm>
          <a:prstGeom prst="rect">
            <a:avLst/>
          </a:prstGeom>
          <a:solidFill>
            <a:srgbClr val="C3A56B"/>
          </a:solidFill>
          <a:ln w="12700">
            <a:solidFill>
              <a:srgbClr val="C3A5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103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F4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Survey topics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8961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02-b04"/>
          <p:cNvSpPr txBox="1"/>
          <p:nvPr/>
        </p:nvSpPr>
        <p:spPr>
          <a:xfrm>
            <a:off x="4709160" y="8229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u="sng" dirty="0">
                <a:solidFill>
                  <a:srgbClr val="173D32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1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Introduction and Place Profile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06240" y="1627632"/>
            <a:ext cx="3840480" cy="0"/>
          </a:xfrm>
          <a:prstGeom prst="line">
            <a:avLst/>
          </a:prstGeom>
          <a:noFill/>
          <a:ln w="9525">
            <a:solidFill>
              <a:srgbClr val="D9D3C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06240" y="1947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02-b05"/>
          <p:cNvSpPr txBox="1"/>
          <p:nvPr/>
        </p:nvSpPr>
        <p:spPr>
          <a:xfrm>
            <a:off x="4709160" y="18745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u="sng" dirty="0">
                <a:solidFill>
                  <a:srgbClr val="173D32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2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Geographical Details and Population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06240" y="2679192"/>
            <a:ext cx="3840480" cy="0"/>
          </a:xfrm>
          <a:prstGeom prst="line">
            <a:avLst/>
          </a:prstGeom>
          <a:noFill/>
          <a:ln w="9525">
            <a:solidFill>
              <a:srgbClr val="D9D3C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0" y="29992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02-b06"/>
          <p:cNvSpPr txBox="1"/>
          <p:nvPr/>
        </p:nvSpPr>
        <p:spPr>
          <a:xfrm>
            <a:off x="4709160" y="2926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u="sng" dirty="0">
                <a:solidFill>
                  <a:srgbClr val="173D32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3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Environmental Details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06240" y="3730752"/>
            <a:ext cx="3840480" cy="0"/>
          </a:xfrm>
          <a:prstGeom prst="line">
            <a:avLst/>
          </a:prstGeom>
          <a:noFill/>
          <a:ln w="9525">
            <a:solidFill>
              <a:srgbClr val="D9D3C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06240" y="4050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s02-b07"/>
          <p:cNvSpPr txBox="1"/>
          <p:nvPr/>
        </p:nvSpPr>
        <p:spPr>
          <a:xfrm>
            <a:off x="4709160" y="39776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u="sng" dirty="0">
                <a:solidFill>
                  <a:srgbClr val="173D32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4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Habitat and Lifestyle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06240" y="4782312"/>
            <a:ext cx="3840480" cy="0"/>
          </a:xfrm>
          <a:prstGeom prst="line">
            <a:avLst/>
          </a:prstGeom>
          <a:noFill/>
          <a:ln w="9525">
            <a:solidFill>
              <a:srgbClr val="D9D3C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0" y="5102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s02-b08"/>
          <p:cNvSpPr txBox="1"/>
          <p:nvPr/>
        </p:nvSpPr>
        <p:spPr>
          <a:xfrm>
            <a:off x="4709160" y="50292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u="sng" dirty="0">
                <a:solidFill>
                  <a:srgbClr val="173D32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5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Technology and Science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06240" y="5833872"/>
            <a:ext cx="3840480" cy="0"/>
          </a:xfrm>
          <a:prstGeom prst="line">
            <a:avLst/>
          </a:prstGeom>
          <a:noFill/>
          <a:ln w="9525">
            <a:solidFill>
              <a:srgbClr val="D9D3C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8961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s02-b09"/>
          <p:cNvSpPr txBox="1"/>
          <p:nvPr/>
        </p:nvSpPr>
        <p:spPr>
          <a:xfrm>
            <a:off x="8686800" y="8229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u="sng" dirty="0">
                <a:solidFill>
                  <a:srgbClr val="173D32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6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Amenities Available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183880" y="1627632"/>
            <a:ext cx="3840480" cy="0"/>
          </a:xfrm>
          <a:prstGeom prst="line">
            <a:avLst/>
          </a:prstGeom>
          <a:noFill/>
          <a:ln w="9525">
            <a:solidFill>
              <a:srgbClr val="D9D3C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83880" y="1947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s02-b10"/>
          <p:cNvSpPr txBox="1"/>
          <p:nvPr/>
        </p:nvSpPr>
        <p:spPr>
          <a:xfrm>
            <a:off x="8686800" y="18745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u="sng" dirty="0">
                <a:solidFill>
                  <a:srgbClr val="173D32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7" action="ppaction://hlinksldjump" tooltip="Go to slide 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Challenges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183880" y="2679192"/>
            <a:ext cx="3840480" cy="0"/>
          </a:xfrm>
          <a:prstGeom prst="line">
            <a:avLst/>
          </a:prstGeom>
          <a:noFill/>
          <a:ln w="9525">
            <a:solidFill>
              <a:srgbClr val="D9D3C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83880" y="29992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s02-b11"/>
          <p:cNvSpPr txBox="1"/>
          <p:nvPr/>
        </p:nvSpPr>
        <p:spPr>
          <a:xfrm>
            <a:off x="8686800" y="2926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u="sng" dirty="0">
                <a:solidFill>
                  <a:srgbClr val="173D32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8" action="ppaction://hlinksldjump" tooltip="Go to slide 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Suggestions / Modifications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183880" y="3730752"/>
            <a:ext cx="3840480" cy="0"/>
          </a:xfrm>
          <a:prstGeom prst="line">
            <a:avLst/>
          </a:prstGeom>
          <a:noFill/>
          <a:ln w="9525">
            <a:solidFill>
              <a:srgbClr val="D9D3C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83880" y="4050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0" name="s02-b12"/>
          <p:cNvSpPr txBox="1"/>
          <p:nvPr/>
        </p:nvSpPr>
        <p:spPr>
          <a:xfrm>
            <a:off x="8686800" y="39776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u="sng" dirty="0">
                <a:solidFill>
                  <a:srgbClr val="173D32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9" action="ppaction://hlinksldjump" tooltip="Go to slide 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Government Facilities and Schemes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183880" y="4782312"/>
            <a:ext cx="3840480" cy="0"/>
          </a:xfrm>
          <a:prstGeom prst="line">
            <a:avLst/>
          </a:prstGeom>
          <a:noFill/>
          <a:ln w="9525">
            <a:solidFill>
              <a:srgbClr val="D9D3C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83880" y="5102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s02-b13"/>
          <p:cNvSpPr txBox="1"/>
          <p:nvPr/>
        </p:nvSpPr>
        <p:spPr>
          <a:xfrm>
            <a:off x="8686800" y="50292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u="sng" dirty="0">
                <a:solidFill>
                  <a:srgbClr val="173D32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10" action="ppaction://hlinksldjump" tooltip="Go to slide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Conclusion and Remarks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183880" y="5833872"/>
            <a:ext cx="3840480" cy="0"/>
          </a:xfrm>
          <a:prstGeom prst="line">
            <a:avLst/>
          </a:prstGeom>
          <a:noFill/>
          <a:ln w="9525">
            <a:solidFill>
              <a:srgbClr val="D9D3C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A5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 FORMAL SURVEY REPORT  •  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pic>
        <p:nvPicPr>
          <p:cNvPr id="3" name="Image 0" descr="Decorative topographic contour lines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-1280160" y="2834640"/>
            <a:ext cx="6766560" cy="6766560"/>
          </a:xfrm>
          <a:prstGeom prst="rect">
            <a:avLst/>
          </a:prstGeom>
        </p:spPr>
      </p:pic>
      <p:sp>
        <p:nvSpPr>
          <p:cNvPr id="4" name="Title 3"/>
          <p:cNvSpPr txBox="1"/>
          <p:nvPr/>
        </p:nvSpPr>
        <p:spPr>
          <a:xfrm>
            <a:off x="457200" y="6400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6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AND PLACE PROFILE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2331720"/>
            <a:ext cx="731520" cy="45720"/>
          </a:xfrm>
          <a:prstGeom prst="rect">
            <a:avLst/>
          </a:prstGeom>
          <a:solidFill>
            <a:srgbClr val="C3A56B"/>
          </a:solidFill>
          <a:ln w="12700">
            <a:solidFill>
              <a:srgbClr val="C3A5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263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7B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 FORMAL SURVEY REPORT  •  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0" y="1339596"/>
            <a:ext cx="128016" cy="128016"/>
          </a:xfrm>
          <a:prstGeom prst="ellipse">
            <a:avLst/>
          </a:prstGeom>
          <a:solidFill>
            <a:srgbClr val="B96548"/>
          </a:solidFill>
          <a:ln w="12700">
            <a:solidFill>
              <a:srgbClr val="B96548"/>
            </a:solidFill>
            <a:prstDash val="solid"/>
          </a:ln>
        </p:spPr>
      </p:sp>
      <p:sp>
        <p:nvSpPr>
          <p:cNvPr id="8" name="s03-b03"/>
          <p:cNvSpPr txBox="1"/>
          <p:nvPr/>
        </p:nvSpPr>
        <p:spPr>
          <a:xfrm>
            <a:off x="4892040" y="1248156"/>
            <a:ext cx="64008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73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Chhattisgarh is a state in central India, formed on 1 November 2000 after separation from Madhya Pradesh.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572000" y="2903220"/>
            <a:ext cx="128016" cy="128016"/>
          </a:xfrm>
          <a:prstGeom prst="ellipse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sp>
        <p:nvSpPr>
          <p:cNvPr id="10" name="s03-b04"/>
          <p:cNvSpPr txBox="1"/>
          <p:nvPr/>
        </p:nvSpPr>
        <p:spPr>
          <a:xfrm>
            <a:off x="4892040" y="2811780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capital is Raipur; the state is known for forests, mineral resources, agriculture, tribal culture, and industry.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0" y="3963924"/>
            <a:ext cx="128016" cy="128016"/>
          </a:xfrm>
          <a:prstGeom prst="ellipse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sp>
        <p:nvSpPr>
          <p:cNvPr id="12" name="s03-b05"/>
          <p:cNvSpPr txBox="1"/>
          <p:nvPr/>
        </p:nvSpPr>
        <p:spPr>
          <a:xfrm>
            <a:off x="4892040" y="3872484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ancient region associated with present-day Chhattisgarh is commonly known as Dakshin Kosala.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72000" y="5024628"/>
            <a:ext cx="128016" cy="128016"/>
          </a:xfrm>
          <a:prstGeom prst="ellipse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sp>
        <p:nvSpPr>
          <p:cNvPr id="14" name="s03-b06"/>
          <p:cNvSpPr txBox="1"/>
          <p:nvPr/>
        </p:nvSpPr>
        <p:spPr>
          <a:xfrm>
            <a:off x="4892040" y="4933188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combines rural and urban communities, traditional livelihoods, and modern infrastructure development.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pic>
        <p:nvPicPr>
          <p:cNvPr id="3" name="Image 0" descr="Decorative topographic contour lines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680960" y="-2377440"/>
            <a:ext cx="5943600" cy="5943600"/>
          </a:xfrm>
          <a:prstGeom prst="rect">
            <a:avLst/>
          </a:prstGeom>
        </p:spPr>
      </p:pic>
      <p:sp>
        <p:nvSpPr>
          <p:cNvPr id="4" name="Title 4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6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GEOGRAPHICAL DETAILS AND POPULATION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731520" cy="45720"/>
          </a:xfrm>
          <a:prstGeom prst="rect">
            <a:avLst/>
          </a:prstGeom>
          <a:solidFill>
            <a:srgbClr val="C3A56B"/>
          </a:solidFill>
          <a:ln w="12700">
            <a:solidFill>
              <a:srgbClr val="C3A5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097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7B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 FORMAL SURVEY REPORT  •  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5394960" cy="2011680"/>
          </a:xfrm>
          <a:prstGeom prst="rect">
            <a:avLst/>
          </a:prstGeom>
          <a:solidFill>
            <a:srgbClr val="FFFCF6"/>
          </a:solidFill>
          <a:ln w="6350">
            <a:solidFill>
              <a:srgbClr val="E5E0D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920240"/>
            <a:ext cx="5394960" cy="45720"/>
          </a:xfrm>
          <a:prstGeom prst="rect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sp>
        <p:nvSpPr>
          <p:cNvPr id="9" name="s04-b03"/>
          <p:cNvSpPr txBox="1"/>
          <p:nvPr/>
        </p:nvSpPr>
        <p:spPr>
          <a:xfrm>
            <a:off x="822960" y="21945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 in central India; it shares boundaries with Madhya Pradesh, Maharashtra, Telangana, Odisha, Jharkhand, and Uttar Pradesh.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217920" y="1920240"/>
            <a:ext cx="5394960" cy="2011680"/>
          </a:xfrm>
          <a:prstGeom prst="rect">
            <a:avLst/>
          </a:prstGeom>
          <a:solidFill>
            <a:srgbClr val="FFFCF6"/>
          </a:solidFill>
          <a:ln w="6350">
            <a:solidFill>
              <a:srgbClr val="E5E0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1920240"/>
            <a:ext cx="5394960" cy="45720"/>
          </a:xfrm>
          <a:prstGeom prst="rect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sp>
        <p:nvSpPr>
          <p:cNvPr id="12" name="s04-b04"/>
          <p:cNvSpPr txBox="1"/>
          <p:nvPr/>
        </p:nvSpPr>
        <p:spPr>
          <a:xfrm>
            <a:off x="6492240" y="21945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includes plains, plateaus, forested hills, river valleys, and mineral-rich regions.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48640" y="4206240"/>
            <a:ext cx="5394960" cy="2011680"/>
          </a:xfrm>
          <a:prstGeom prst="rect">
            <a:avLst/>
          </a:prstGeom>
          <a:solidFill>
            <a:srgbClr val="FFFCF6"/>
          </a:solidFill>
          <a:ln w="6350">
            <a:solidFill>
              <a:srgbClr val="E5E0D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4206240"/>
            <a:ext cx="5394960" cy="45720"/>
          </a:xfrm>
          <a:prstGeom prst="rect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sp>
        <p:nvSpPr>
          <p:cNvPr id="15" name="s04-b05"/>
          <p:cNvSpPr txBox="1"/>
          <p:nvPr/>
        </p:nvSpPr>
        <p:spPr>
          <a:xfrm>
            <a:off x="822960" y="44805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Mahanadi and its tributaries are important to the state's geography and agriculture.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6217920" y="4206240"/>
            <a:ext cx="5394960" cy="2011680"/>
          </a:xfrm>
          <a:prstGeom prst="rect">
            <a:avLst/>
          </a:prstGeom>
          <a:solidFill>
            <a:srgbClr val="FFFCF6"/>
          </a:solidFill>
          <a:ln w="6350">
            <a:solidFill>
              <a:srgbClr val="E5E0D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17920" y="4206240"/>
            <a:ext cx="5394960" cy="45720"/>
          </a:xfrm>
          <a:prstGeom prst="rect">
            <a:avLst/>
          </a:prstGeom>
          <a:solidFill>
            <a:srgbClr val="B96548"/>
          </a:solidFill>
          <a:ln w="12700">
            <a:solidFill>
              <a:srgbClr val="B96548"/>
            </a:solidFill>
            <a:prstDash val="solid"/>
          </a:ln>
        </p:spPr>
      </p:sp>
      <p:sp>
        <p:nvSpPr>
          <p:cNvPr id="18" name="s04-b06"/>
          <p:cNvSpPr txBox="1"/>
          <p:nvPr/>
        </p:nvSpPr>
        <p:spPr>
          <a:xfrm>
            <a:off x="6492240" y="44805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2011 Census recorded a population of approximately 2.55 crore; newer estimates may differ.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pic>
        <p:nvPicPr>
          <p:cNvPr id="3" name="Image 0" descr="Decorative topographic contour lines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-1280160" y="2834640"/>
            <a:ext cx="6766560" cy="6766560"/>
          </a:xfrm>
          <a:prstGeom prst="rect">
            <a:avLst/>
          </a:prstGeom>
        </p:spPr>
      </p:pic>
      <p:sp>
        <p:nvSpPr>
          <p:cNvPr id="4" name="Title 5"/>
          <p:cNvSpPr txBox="1"/>
          <p:nvPr/>
        </p:nvSpPr>
        <p:spPr>
          <a:xfrm>
            <a:off x="457200" y="6400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6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ENVIRONMENTAL DETAILS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2331720"/>
            <a:ext cx="731520" cy="45720"/>
          </a:xfrm>
          <a:prstGeom prst="rect">
            <a:avLst/>
          </a:prstGeom>
          <a:solidFill>
            <a:srgbClr val="C3A56B"/>
          </a:solidFill>
          <a:ln w="12700">
            <a:solidFill>
              <a:srgbClr val="C3A5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263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7B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 FORMAL SURVEY REPORT  •  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0" y="1330452"/>
            <a:ext cx="128016" cy="128016"/>
          </a:xfrm>
          <a:prstGeom prst="ellipse">
            <a:avLst/>
          </a:prstGeom>
          <a:solidFill>
            <a:srgbClr val="A7B6A0"/>
          </a:solidFill>
          <a:ln w="12700">
            <a:solidFill>
              <a:srgbClr val="A7B6A0"/>
            </a:solidFill>
            <a:prstDash val="solid"/>
          </a:ln>
        </p:spPr>
      </p:sp>
      <p:sp>
        <p:nvSpPr>
          <p:cNvPr id="8" name="s05-b03"/>
          <p:cNvSpPr txBox="1"/>
          <p:nvPr/>
        </p:nvSpPr>
        <p:spPr>
          <a:xfrm>
            <a:off x="4892040" y="1239012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 has extensive forests, diverse wildlife, rivers, waterfalls, and mineral deposits.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0" y="2464308"/>
            <a:ext cx="128016" cy="128016"/>
          </a:xfrm>
          <a:prstGeom prst="ellipse">
            <a:avLst/>
          </a:prstGeom>
          <a:solidFill>
            <a:srgbClr val="A7B6A0"/>
          </a:solidFill>
          <a:ln w="12700">
            <a:solidFill>
              <a:srgbClr val="A7B6A0"/>
            </a:solidFill>
            <a:prstDash val="solid"/>
          </a:ln>
        </p:spPr>
      </p:sp>
      <p:sp>
        <p:nvSpPr>
          <p:cNvPr id="10" name="s05-b04"/>
          <p:cNvSpPr txBox="1"/>
          <p:nvPr/>
        </p:nvSpPr>
        <p:spPr>
          <a:xfrm>
            <a:off x="4892040" y="2372868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 support biodiversity and many rural and tribal livelihoods.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26280" y="3396996"/>
            <a:ext cx="7040880" cy="896112"/>
          </a:xfrm>
          <a:prstGeom prst="rect">
            <a:avLst/>
          </a:prstGeom>
          <a:solidFill>
            <a:srgbClr val="F0E3DA"/>
          </a:solidFill>
          <a:ln w="12700">
            <a:solidFill>
              <a:srgbClr val="F0E3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3598164"/>
            <a:ext cx="128016" cy="128016"/>
          </a:xfrm>
          <a:prstGeom prst="ellipse">
            <a:avLst/>
          </a:prstGeom>
          <a:solidFill>
            <a:srgbClr val="B96548"/>
          </a:solidFill>
          <a:ln w="12700">
            <a:solidFill>
              <a:srgbClr val="B96548"/>
            </a:solidFill>
            <a:prstDash val="solid"/>
          </a:ln>
        </p:spPr>
      </p:sp>
      <p:sp>
        <p:nvSpPr>
          <p:cNvPr id="13" name="s05-b05"/>
          <p:cNvSpPr txBox="1"/>
          <p:nvPr/>
        </p:nvSpPr>
        <p:spPr>
          <a:xfrm>
            <a:off x="4892040" y="3506724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 include forest degradation, mining and industrial pollution, water pressure, and waste management.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526280" y="4530852"/>
            <a:ext cx="7040880" cy="1197864"/>
          </a:xfrm>
          <a:prstGeom prst="rect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4732020"/>
            <a:ext cx="128016" cy="128016"/>
          </a:xfrm>
          <a:prstGeom prst="ellipse">
            <a:avLst/>
          </a:prstGeom>
          <a:solidFill>
            <a:srgbClr val="C3A56B"/>
          </a:solidFill>
          <a:ln w="12700">
            <a:solidFill>
              <a:srgbClr val="C3A56B"/>
            </a:solidFill>
            <a:prstDash val="solid"/>
          </a:ln>
        </p:spPr>
      </p:sp>
      <p:sp>
        <p:nvSpPr>
          <p:cNvPr id="16" name="s05-b06"/>
          <p:cNvSpPr txBox="1"/>
          <p:nvPr/>
        </p:nvSpPr>
        <p:spPr>
          <a:xfrm>
            <a:off x="4892040" y="4640580"/>
            <a:ext cx="64008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3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measures:</a:t>
            </a:r>
            <a:pPr indent="0" marL="0">
              <a:buNone/>
            </a:pPr>
            <a:r>
              <a:rPr lang="en-US" sz="18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native-species afforestation, water conservation, cleaner industry, renewable energy, responsible mining, and recycling.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pic>
        <p:nvPicPr>
          <p:cNvPr id="3" name="Image 0" descr="Decorative topographic contour lines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-1280160" y="2834640"/>
            <a:ext cx="6766560" cy="6766560"/>
          </a:xfrm>
          <a:prstGeom prst="rect">
            <a:avLst/>
          </a:prstGeom>
        </p:spPr>
      </p:pic>
      <p:sp>
        <p:nvSpPr>
          <p:cNvPr id="4" name="Title 6"/>
          <p:cNvSpPr txBox="1"/>
          <p:nvPr/>
        </p:nvSpPr>
        <p:spPr>
          <a:xfrm>
            <a:off x="457200" y="6400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6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HABITAT AND LIFESTYLE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2331720"/>
            <a:ext cx="731520" cy="45720"/>
          </a:xfrm>
          <a:prstGeom prst="rect">
            <a:avLst/>
          </a:prstGeom>
          <a:solidFill>
            <a:srgbClr val="C3A56B"/>
          </a:solidFill>
          <a:ln w="12700">
            <a:solidFill>
              <a:srgbClr val="C3A5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263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7B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 FORMAL SURVEY REPORT  •  06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0" y="1339596"/>
            <a:ext cx="128016" cy="128016"/>
          </a:xfrm>
          <a:prstGeom prst="ellipse">
            <a:avLst/>
          </a:prstGeom>
          <a:solidFill>
            <a:srgbClr val="B96548"/>
          </a:solidFill>
          <a:ln w="12700">
            <a:solidFill>
              <a:srgbClr val="B96548"/>
            </a:solidFill>
            <a:prstDash val="solid"/>
          </a:ln>
        </p:spPr>
      </p:sp>
      <p:sp>
        <p:nvSpPr>
          <p:cNvPr id="8" name="s06-b03"/>
          <p:cNvSpPr txBox="1"/>
          <p:nvPr/>
        </p:nvSpPr>
        <p:spPr>
          <a:xfrm>
            <a:off x="4892040" y="1248156"/>
            <a:ext cx="64008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73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live in villages, small towns, and growing urban centres such as Raipur, Bilaspur, Durg-Bhilai, and Korba.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572000" y="2903220"/>
            <a:ext cx="128016" cy="128016"/>
          </a:xfrm>
          <a:prstGeom prst="ellipse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sp>
        <p:nvSpPr>
          <p:cNvPr id="10" name="s06-b04"/>
          <p:cNvSpPr txBox="1"/>
          <p:nvPr/>
        </p:nvSpPr>
        <p:spPr>
          <a:xfrm>
            <a:off x="4892040" y="2811780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livelihoods include farming, forest-produce collection, animal husbandry, crafts, and local trade.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0" y="3963924"/>
            <a:ext cx="128016" cy="128016"/>
          </a:xfrm>
          <a:prstGeom prst="ellipse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sp>
        <p:nvSpPr>
          <p:cNvPr id="12" name="s06-b05"/>
          <p:cNvSpPr txBox="1"/>
          <p:nvPr/>
        </p:nvSpPr>
        <p:spPr>
          <a:xfrm>
            <a:off x="4892040" y="3872484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is expressed through folk music and dance, festivals, traditional crafts, cuisine, and regional languages.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72000" y="5024628"/>
            <a:ext cx="128016" cy="128016"/>
          </a:xfrm>
          <a:prstGeom prst="ellipse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sp>
        <p:nvSpPr>
          <p:cNvPr id="14" name="s06-b06"/>
          <p:cNvSpPr txBox="1"/>
          <p:nvPr/>
        </p:nvSpPr>
        <p:spPr>
          <a:xfrm>
            <a:off x="4892040" y="4933188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education, healthcare, transport, and commerce varies; remote forested areas may face longer travel distances.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pic>
        <p:nvPicPr>
          <p:cNvPr id="3" name="Image 0" descr="Decorative topographic contour lines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680960" y="-2377440"/>
            <a:ext cx="5943600" cy="5943600"/>
          </a:xfrm>
          <a:prstGeom prst="rect">
            <a:avLst/>
          </a:prstGeom>
        </p:spPr>
      </p:pic>
      <p:sp>
        <p:nvSpPr>
          <p:cNvPr id="4" name="Title 7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6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AND SCIENCE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731520" cy="45720"/>
          </a:xfrm>
          <a:prstGeom prst="rect">
            <a:avLst/>
          </a:prstGeom>
          <a:solidFill>
            <a:srgbClr val="C3A56B"/>
          </a:solidFill>
          <a:ln w="12700">
            <a:solidFill>
              <a:srgbClr val="C3A5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097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7B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 FORMAL SURVEY REPORT  •  07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486400" cy="1417320"/>
          </a:xfrm>
          <a:prstGeom prst="rect">
            <a:avLst/>
          </a:prstGeom>
          <a:solidFill>
            <a:srgbClr val="FFFCF6"/>
          </a:solidFill>
          <a:ln w="6350">
            <a:solidFill>
              <a:srgbClr val="E5E0D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783080"/>
            <a:ext cx="5486400" cy="45720"/>
          </a:xfrm>
          <a:prstGeom prst="rect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sp>
        <p:nvSpPr>
          <p:cNvPr id="9" name="s07-b03"/>
          <p:cNvSpPr txBox="1"/>
          <p:nvPr/>
        </p:nvSpPr>
        <p:spPr>
          <a:xfrm>
            <a:off x="822960" y="20574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supports mining, steel production, power generation, agriculture, transport, public services, and urban management.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3383280"/>
            <a:ext cx="5486400" cy="1417320"/>
          </a:xfrm>
          <a:prstGeom prst="rect">
            <a:avLst/>
          </a:prstGeom>
          <a:solidFill>
            <a:srgbClr val="FFFCF6"/>
          </a:solidFill>
          <a:ln w="6350">
            <a:solidFill>
              <a:srgbClr val="E5E0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3383280"/>
            <a:ext cx="5486400" cy="45720"/>
          </a:xfrm>
          <a:prstGeom prst="rect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sp>
        <p:nvSpPr>
          <p:cNvPr id="12" name="s07-b04"/>
          <p:cNvSpPr txBox="1"/>
          <p:nvPr/>
        </p:nvSpPr>
        <p:spPr>
          <a:xfrm>
            <a:off x="822960" y="36576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services and mobile connectivity can improve access to information and government services.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48640" y="4983480"/>
            <a:ext cx="5486400" cy="1417320"/>
          </a:xfrm>
          <a:prstGeom prst="rect">
            <a:avLst/>
          </a:prstGeom>
          <a:solidFill>
            <a:srgbClr val="FFFCF6"/>
          </a:solidFill>
          <a:ln w="6350">
            <a:solidFill>
              <a:srgbClr val="E5E0D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4983480"/>
            <a:ext cx="5486400" cy="45720"/>
          </a:xfrm>
          <a:prstGeom prst="rect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sp>
        <p:nvSpPr>
          <p:cNvPr id="15" name="s07-b05"/>
          <p:cNvSpPr txBox="1"/>
          <p:nvPr/>
        </p:nvSpPr>
        <p:spPr>
          <a:xfrm>
            <a:off x="822960" y="52578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improvements include sensor-based mine safety and predictive maintenance in factories.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309360" y="1783080"/>
            <a:ext cx="5303520" cy="3017520"/>
          </a:xfrm>
          <a:prstGeom prst="rect">
            <a:avLst/>
          </a:prstGeom>
          <a:solidFill>
            <a:srgbClr val="173D32"/>
          </a:solidFill>
          <a:ln w="6350">
            <a:solidFill>
              <a:srgbClr val="173D3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0" y="1783080"/>
            <a:ext cx="5303520" cy="45720"/>
          </a:xfrm>
          <a:prstGeom prst="rect">
            <a:avLst/>
          </a:prstGeom>
          <a:solidFill>
            <a:srgbClr val="C3A56B"/>
          </a:solidFill>
          <a:ln w="12700">
            <a:solidFill>
              <a:srgbClr val="C3A56B"/>
            </a:solidFill>
            <a:prstDash val="solid"/>
          </a:ln>
        </p:spPr>
      </p:sp>
      <p:sp>
        <p:nvSpPr>
          <p:cNvPr id="18" name="s07-b06"/>
          <p:cNvSpPr txBox="1"/>
          <p:nvPr/>
        </p:nvSpPr>
        <p:spPr>
          <a:xfrm>
            <a:off x="6583680" y="20574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6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Solar-powered cold storage, digital marketplaces, offline-first healthcare tools, and regional-language STEM platforms can help.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6309360" y="4983480"/>
            <a:ext cx="5303520" cy="1417320"/>
          </a:xfrm>
          <a:prstGeom prst="rect">
            <a:avLst/>
          </a:prstGeom>
          <a:solidFill>
            <a:srgbClr val="173D32"/>
          </a:solidFill>
          <a:ln w="6350">
            <a:solidFill>
              <a:srgbClr val="173D3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09360" y="4983480"/>
            <a:ext cx="5303520" cy="45720"/>
          </a:xfrm>
          <a:prstGeom prst="rect">
            <a:avLst/>
          </a:prstGeom>
          <a:solidFill>
            <a:srgbClr val="B96548"/>
          </a:solidFill>
          <a:ln w="12700">
            <a:solidFill>
              <a:srgbClr val="B96548"/>
            </a:solidFill>
            <a:prstDash val="solid"/>
          </a:ln>
        </p:spPr>
      </p:sp>
      <p:sp>
        <p:nvSpPr>
          <p:cNvPr id="21" name="s07-b07"/>
          <p:cNvSpPr txBox="1"/>
          <p:nvPr/>
        </p:nvSpPr>
        <p:spPr>
          <a:xfrm>
            <a:off x="6583680" y="52578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should be affordable, accessible to rural users, locally suitable, and supported by training and maintenance.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pic>
        <p:nvPicPr>
          <p:cNvPr id="3" name="Image 0" descr="Decorative topographic contour lines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680960" y="-2377440"/>
            <a:ext cx="5943600" cy="5943600"/>
          </a:xfrm>
          <a:prstGeom prst="rect">
            <a:avLst/>
          </a:prstGeom>
        </p:spPr>
      </p:pic>
      <p:sp>
        <p:nvSpPr>
          <p:cNvPr id="4" name="Title 8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6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AMENITIES AVAILABLE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731520" cy="45720"/>
          </a:xfrm>
          <a:prstGeom prst="rect">
            <a:avLst/>
          </a:prstGeom>
          <a:solidFill>
            <a:srgbClr val="C3A56B"/>
          </a:solidFill>
          <a:ln w="12700">
            <a:solidFill>
              <a:srgbClr val="C3A5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097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7B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 FORMAL SURVEY REPORT  •  08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3566160" cy="2377440"/>
          </a:xfrm>
          <a:prstGeom prst="rect">
            <a:avLst/>
          </a:prstGeom>
          <a:solidFill>
            <a:srgbClr val="FFFCF6"/>
          </a:solidFill>
          <a:ln w="6350">
            <a:solidFill>
              <a:srgbClr val="E5E0D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783080"/>
            <a:ext cx="3566160" cy="45720"/>
          </a:xfrm>
          <a:prstGeom prst="rect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sp>
        <p:nvSpPr>
          <p:cNvPr id="9" name="s08-b03"/>
          <p:cNvSpPr txBox="1"/>
          <p:nvPr/>
        </p:nvSpPr>
        <p:spPr>
          <a:xfrm>
            <a:off x="822960" y="20574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Education:</a:t>
            </a:r>
            <a:pPr indent="0" marL="0">
              <a:buNone/>
            </a:pPr>
            <a:r>
              <a:rPr lang="en-US" sz="17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schools, colleges, technical institutes, universities, and skill-development centres operate across the state.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297680" y="1783080"/>
            <a:ext cx="3566160" cy="2377440"/>
          </a:xfrm>
          <a:prstGeom prst="rect">
            <a:avLst/>
          </a:prstGeom>
          <a:solidFill>
            <a:srgbClr val="FFFCF6"/>
          </a:solidFill>
          <a:ln w="6350">
            <a:solidFill>
              <a:srgbClr val="E5E0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0" y="1783080"/>
            <a:ext cx="3566160" cy="45720"/>
          </a:xfrm>
          <a:prstGeom prst="rect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sp>
        <p:nvSpPr>
          <p:cNvPr id="12" name="s08-b04"/>
          <p:cNvSpPr txBox="1"/>
          <p:nvPr/>
        </p:nvSpPr>
        <p:spPr>
          <a:xfrm>
            <a:off x="4572000" y="20574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Healthcare:</a:t>
            </a:r>
            <a:pPr indent="0" marL="0">
              <a:buNone/>
            </a:pPr>
            <a:r>
              <a:rPr lang="en-US" sz="17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government hospitals, community health centres, primary health centres, and frontline health workers provide services.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046720" y="1783080"/>
            <a:ext cx="3566160" cy="2377440"/>
          </a:xfrm>
          <a:prstGeom prst="rect">
            <a:avLst/>
          </a:prstGeom>
          <a:solidFill>
            <a:srgbClr val="FFFCF6"/>
          </a:solidFill>
          <a:ln w="6350">
            <a:solidFill>
              <a:srgbClr val="E5E0D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46720" y="1783080"/>
            <a:ext cx="3566160" cy="45720"/>
          </a:xfrm>
          <a:prstGeom prst="rect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sp>
        <p:nvSpPr>
          <p:cNvPr id="15" name="s08-b05"/>
          <p:cNvSpPr txBox="1"/>
          <p:nvPr/>
        </p:nvSpPr>
        <p:spPr>
          <a:xfrm>
            <a:off x="8321040" y="20574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and utilities:</a:t>
            </a:r>
            <a:pPr indent="0" marL="0">
              <a:buNone/>
            </a:pPr>
            <a:r>
              <a:rPr lang="en-US" sz="17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roads, railways, electricity, mobile networks, and water-supply systems support communities and industry.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343400"/>
            <a:ext cx="5486400" cy="2011680"/>
          </a:xfrm>
          <a:prstGeom prst="rect">
            <a:avLst/>
          </a:prstGeom>
          <a:solidFill>
            <a:srgbClr val="FFFCF6"/>
          </a:solidFill>
          <a:ln w="6350">
            <a:solidFill>
              <a:srgbClr val="E5E0D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4343400"/>
            <a:ext cx="5486400" cy="45720"/>
          </a:xfrm>
          <a:prstGeom prst="rect">
            <a:avLst/>
          </a:prstGeom>
          <a:solidFill>
            <a:srgbClr val="C3A56B"/>
          </a:solidFill>
          <a:ln w="12700">
            <a:solidFill>
              <a:srgbClr val="C3A56B"/>
            </a:solidFill>
            <a:prstDash val="solid"/>
          </a:ln>
        </p:spPr>
      </p:sp>
      <p:sp>
        <p:nvSpPr>
          <p:cNvPr id="18" name="s08-b06"/>
          <p:cNvSpPr txBox="1"/>
          <p:nvPr/>
        </p:nvSpPr>
        <p:spPr>
          <a:xfrm>
            <a:off x="822960" y="46177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services:</a:t>
            </a:r>
            <a:pPr indent="0" marL="0">
              <a:buNone/>
            </a:pPr>
            <a:r>
              <a:rPr lang="en-US" sz="17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major cities provide markets, public facilities, waste-management services, and selected digital and smart-city systems.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309360" y="4343400"/>
            <a:ext cx="5303520" cy="2011680"/>
          </a:xfrm>
          <a:prstGeom prst="rect">
            <a:avLst/>
          </a:prstGeom>
          <a:solidFill>
            <a:srgbClr val="173D32"/>
          </a:solidFill>
          <a:ln w="6350">
            <a:solidFill>
              <a:srgbClr val="173D3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09360" y="4343400"/>
            <a:ext cx="5303520" cy="45720"/>
          </a:xfrm>
          <a:prstGeom prst="rect">
            <a:avLst/>
          </a:prstGeom>
          <a:solidFill>
            <a:srgbClr val="B96548"/>
          </a:solidFill>
          <a:ln w="12700">
            <a:solidFill>
              <a:srgbClr val="B96548"/>
            </a:solidFill>
            <a:prstDash val="solid"/>
          </a:ln>
        </p:spPr>
      </p:sp>
      <p:sp>
        <p:nvSpPr>
          <p:cNvPr id="21" name="s08-b07"/>
          <p:cNvSpPr txBox="1"/>
          <p:nvPr/>
        </p:nvSpPr>
        <p:spPr>
          <a:xfrm>
            <a:off x="6583680" y="4617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6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and quality can vary by region, with specialist healthcare and utilities harder to reach in some remote areas.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pic>
        <p:nvPicPr>
          <p:cNvPr id="3" name="Image 0" descr="Decorative topographic contour lines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-1280160" y="2834640"/>
            <a:ext cx="6766560" cy="6766560"/>
          </a:xfrm>
          <a:prstGeom prst="rect">
            <a:avLst/>
          </a:prstGeom>
        </p:spPr>
      </p:pic>
      <p:sp>
        <p:nvSpPr>
          <p:cNvPr id="4" name="Title 9"/>
          <p:cNvSpPr txBox="1"/>
          <p:nvPr/>
        </p:nvSpPr>
        <p:spPr>
          <a:xfrm>
            <a:off x="457200" y="6400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6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2331720"/>
            <a:ext cx="731520" cy="45720"/>
          </a:xfrm>
          <a:prstGeom prst="rect">
            <a:avLst/>
          </a:prstGeom>
          <a:solidFill>
            <a:srgbClr val="C3A56B"/>
          </a:solidFill>
          <a:ln w="12700">
            <a:solidFill>
              <a:srgbClr val="C3A5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263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7B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 FORMAL SURVEY REPORT  •  09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0" y="809244"/>
            <a:ext cx="128016" cy="128016"/>
          </a:xfrm>
          <a:prstGeom prst="ellipse">
            <a:avLst/>
          </a:prstGeom>
          <a:solidFill>
            <a:srgbClr val="B96548"/>
          </a:solidFill>
          <a:ln w="12700">
            <a:solidFill>
              <a:srgbClr val="B96548"/>
            </a:solidFill>
            <a:prstDash val="solid"/>
          </a:ln>
        </p:spPr>
      </p:sp>
      <p:sp>
        <p:nvSpPr>
          <p:cNvPr id="8" name="s09-b03"/>
          <p:cNvSpPr txBox="1"/>
          <p:nvPr/>
        </p:nvSpPr>
        <p:spPr>
          <a:xfrm>
            <a:off x="4892040" y="717804"/>
            <a:ext cx="64008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F4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Uneven access to healthcare and education, rural connectivity gaps, post-harvest losses, and limited cold-chain storage.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572000" y="2372868"/>
            <a:ext cx="128016" cy="128016"/>
          </a:xfrm>
          <a:prstGeom prst="ellipse">
            <a:avLst/>
          </a:prstGeom>
          <a:solidFill>
            <a:srgbClr val="B96548"/>
          </a:solidFill>
          <a:ln w="12700">
            <a:solidFill>
              <a:srgbClr val="B96548"/>
            </a:solidFill>
            <a:prstDash val="solid"/>
          </a:ln>
        </p:spPr>
      </p:sp>
      <p:sp>
        <p:nvSpPr>
          <p:cNvPr id="10" name="s09-b04"/>
          <p:cNvSpPr txBox="1"/>
          <p:nvPr/>
        </p:nvSpPr>
        <p:spPr>
          <a:xfrm>
            <a:off x="4892040" y="2281428"/>
            <a:ext cx="6400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Market-access barriers for local producers and artisans.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0" y="3131820"/>
            <a:ext cx="128016" cy="128016"/>
          </a:xfrm>
          <a:prstGeom prst="ellipse">
            <a:avLst/>
          </a:prstGeom>
          <a:solidFill>
            <a:srgbClr val="B96548"/>
          </a:solidFill>
          <a:ln w="12700">
            <a:solidFill>
              <a:srgbClr val="B96548"/>
            </a:solidFill>
            <a:prstDash val="solid"/>
          </a:ln>
        </p:spPr>
      </p:sp>
      <p:sp>
        <p:nvSpPr>
          <p:cNvPr id="12" name="s09-b05"/>
          <p:cNvSpPr txBox="1"/>
          <p:nvPr/>
        </p:nvSpPr>
        <p:spPr>
          <a:xfrm>
            <a:off x="4892040" y="3040380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and industrial activity can cause air and water pollution, land disturbance, and worker-safety risks.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72000" y="4192524"/>
            <a:ext cx="128016" cy="128016"/>
          </a:xfrm>
          <a:prstGeom prst="ellipse">
            <a:avLst/>
          </a:prstGeom>
          <a:solidFill>
            <a:srgbClr val="B96548"/>
          </a:solidFill>
          <a:ln w="12700">
            <a:solidFill>
              <a:srgbClr val="B96548"/>
            </a:solidFill>
            <a:prstDash val="solid"/>
          </a:ln>
        </p:spPr>
      </p:sp>
      <p:sp>
        <p:nvSpPr>
          <p:cNvPr id="14" name="s09-b06"/>
          <p:cNvSpPr txBox="1"/>
          <p:nvPr/>
        </p:nvSpPr>
        <p:spPr>
          <a:xfrm>
            <a:off x="4892040" y="4101084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projects must consider forests, wildlife, and local communities.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572000" y="5253228"/>
            <a:ext cx="128016" cy="128016"/>
          </a:xfrm>
          <a:prstGeom prst="ellipse">
            <a:avLst/>
          </a:prstGeom>
          <a:solidFill>
            <a:srgbClr val="B96548"/>
          </a:solidFill>
          <a:ln w="12700">
            <a:solidFill>
              <a:srgbClr val="B96548"/>
            </a:solidFill>
            <a:prstDash val="solid"/>
          </a:ln>
        </p:spPr>
      </p:sp>
      <p:sp>
        <p:nvSpPr>
          <p:cNvPr id="16" name="s09-b07"/>
          <p:cNvSpPr txBox="1"/>
          <p:nvPr/>
        </p:nvSpPr>
        <p:spPr>
          <a:xfrm>
            <a:off x="4892040" y="5161788"/>
            <a:ext cx="64008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investment, technology, and skill-development benefits reach small businesses, rural residents, and tribal communities fairly.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pic>
        <p:nvPicPr>
          <p:cNvPr id="3" name="Image 0" descr="Decorative topographic contour lines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680960" y="-2377440"/>
            <a:ext cx="5943600" cy="5943600"/>
          </a:xfrm>
          <a:prstGeom prst="rect">
            <a:avLst/>
          </a:prstGeom>
        </p:spPr>
      </p:pic>
      <p:sp>
        <p:nvSpPr>
          <p:cNvPr id="4" name="Title 1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6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SUGGESTIONS / MODIFICATIONS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731520" cy="45720"/>
          </a:xfrm>
          <a:prstGeom prst="rect">
            <a:avLst/>
          </a:prstGeom>
          <a:solidFill>
            <a:srgbClr val="C3A56B"/>
          </a:solidFill>
          <a:ln w="12700">
            <a:solidFill>
              <a:srgbClr val="C3A5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097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7B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 FORMAL SURVEY REPORT  •  10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6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s10-b03"/>
          <p:cNvSpPr txBox="1"/>
          <p:nvPr/>
        </p:nvSpPr>
        <p:spPr>
          <a:xfrm>
            <a:off x="1097280" y="17373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affordable solar-powered cold rooms and shared processing units near farming and forest-produce clusters.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761488"/>
            <a:ext cx="5394960" cy="0"/>
          </a:xfrm>
          <a:prstGeom prst="line">
            <a:avLst/>
          </a:prstGeom>
          <a:noFill/>
          <a:ln w="9525">
            <a:solidFill>
              <a:srgbClr val="D9D3C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6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10-b04"/>
          <p:cNvSpPr txBox="1"/>
          <p:nvPr/>
        </p:nvSpPr>
        <p:spPr>
          <a:xfrm>
            <a:off x="1097280" y="2907792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mine and factory safety with sensors, worker alerts, preventive maintenance, and regular training.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5394960" cy="0"/>
          </a:xfrm>
          <a:prstGeom prst="line">
            <a:avLst/>
          </a:prstGeom>
          <a:noFill/>
          <a:ln w="9525">
            <a:solidFill>
              <a:srgbClr val="D9D3C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6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s10-b05"/>
          <p:cNvSpPr txBox="1"/>
          <p:nvPr/>
        </p:nvSpPr>
        <p:spPr>
          <a:xfrm>
            <a:off x="1097280" y="4078224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telemedicine, offline-capable health tools, and reliable emergency transport for remote settlements.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5102352"/>
            <a:ext cx="5394960" cy="0"/>
          </a:xfrm>
          <a:prstGeom prst="line">
            <a:avLst/>
          </a:prstGeom>
          <a:noFill/>
          <a:ln w="9525">
            <a:solidFill>
              <a:srgbClr val="D9D3C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6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s10-b06"/>
          <p:cNvSpPr txBox="1"/>
          <p:nvPr/>
        </p:nvSpPr>
        <p:spPr>
          <a:xfrm>
            <a:off x="1097280" y="5248656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tribal artisans through fair-price digital marketplaces, product photography, packaging, and direct buyer links.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48640" y="6272784"/>
            <a:ext cx="5394960" cy="0"/>
          </a:xfrm>
          <a:prstGeom prst="line">
            <a:avLst/>
          </a:prstGeom>
          <a:noFill/>
          <a:ln w="9525">
            <a:solidFill>
              <a:srgbClr val="D9D3C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6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0" name="s10-b07"/>
          <p:cNvSpPr txBox="1"/>
          <p:nvPr/>
        </p:nvSpPr>
        <p:spPr>
          <a:xfrm>
            <a:off x="6766560" y="17373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portable science kits, maker spaces, regional-language learning resources, and industry mentorship.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217920" y="2761488"/>
            <a:ext cx="5394960" cy="0"/>
          </a:xfrm>
          <a:prstGeom prst="line">
            <a:avLst/>
          </a:prstGeom>
          <a:noFill/>
          <a:ln w="9525">
            <a:solidFill>
              <a:srgbClr val="D9D3C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1792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6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23" name="s10-b08"/>
          <p:cNvSpPr txBox="1"/>
          <p:nvPr/>
        </p:nvSpPr>
        <p:spPr>
          <a:xfrm>
            <a:off x="6766560" y="2907792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cleaner production, wastewater treatment, recycling, renewable energy, and restoration of mined land.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6217920" y="3931920"/>
            <a:ext cx="5394960" cy="0"/>
          </a:xfrm>
          <a:prstGeom prst="line">
            <a:avLst/>
          </a:prstGeom>
          <a:noFill/>
          <a:ln w="9525">
            <a:solidFill>
              <a:srgbClr val="D9D3C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965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400" dirty="0"/>
          </a:p>
        </p:txBody>
      </p:sp>
      <p:sp>
        <p:nvSpPr>
          <p:cNvPr id="26" name="s10-b09"/>
          <p:cNvSpPr txBox="1"/>
          <p:nvPr/>
        </p:nvSpPr>
        <p:spPr>
          <a:xfrm>
            <a:off x="6766560" y="4078224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 local residents and monitor accessibility, environmental effects, and fair distribution of benefits.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6217920" y="5102352"/>
            <a:ext cx="5394960" cy="0"/>
          </a:xfrm>
          <a:prstGeom prst="line">
            <a:avLst/>
          </a:prstGeom>
          <a:noFill/>
          <a:ln w="9525">
            <a:solidFill>
              <a:srgbClr val="D9D3C3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pic>
        <p:nvPicPr>
          <p:cNvPr id="3" name="Image 0" descr="Decorative topographic contour lines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-1280160" y="2834640"/>
            <a:ext cx="6766560" cy="6766560"/>
          </a:xfrm>
          <a:prstGeom prst="rect">
            <a:avLst/>
          </a:prstGeom>
        </p:spPr>
      </p:pic>
      <p:sp>
        <p:nvSpPr>
          <p:cNvPr id="4" name="Title 11"/>
          <p:cNvSpPr txBox="1"/>
          <p:nvPr/>
        </p:nvSpPr>
        <p:spPr>
          <a:xfrm>
            <a:off x="457200" y="6400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6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 FACILITIES AND SCHEMES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2331720"/>
            <a:ext cx="731520" cy="45720"/>
          </a:xfrm>
          <a:prstGeom prst="rect">
            <a:avLst/>
          </a:prstGeom>
          <a:solidFill>
            <a:srgbClr val="C3A56B"/>
          </a:solidFill>
          <a:ln w="12700">
            <a:solidFill>
              <a:srgbClr val="C3A5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263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7B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 FORMAL SURVEY REPORT  •  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0" y="1004316"/>
            <a:ext cx="128016" cy="128016"/>
          </a:xfrm>
          <a:prstGeom prst="ellipse">
            <a:avLst/>
          </a:prstGeom>
          <a:solidFill>
            <a:srgbClr val="B96548"/>
          </a:solidFill>
          <a:ln w="12700">
            <a:solidFill>
              <a:srgbClr val="B96548"/>
            </a:solidFill>
            <a:prstDash val="solid"/>
          </a:ln>
        </p:spPr>
      </p:sp>
      <p:sp>
        <p:nvSpPr>
          <p:cNvPr id="8" name="s11-b03"/>
          <p:cNvSpPr txBox="1"/>
          <p:nvPr/>
        </p:nvSpPr>
        <p:spPr>
          <a:xfrm>
            <a:off x="4892040" y="912876"/>
            <a:ext cx="6400800" cy="154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73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Residents may qualify for programmes related to food security, rural employment, housing, health coverage, farmer support, scholarships, skills, and tribal welfare.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572000" y="2936748"/>
            <a:ext cx="128016" cy="128016"/>
          </a:xfrm>
          <a:prstGeom prst="ellipse">
            <a:avLst/>
          </a:prstGeom>
          <a:solidFill>
            <a:srgbClr val="B96548"/>
          </a:solidFill>
          <a:ln w="12700">
            <a:solidFill>
              <a:srgbClr val="B96548"/>
            </a:solidFill>
            <a:prstDash val="solid"/>
          </a:ln>
        </p:spPr>
      </p:sp>
      <p:sp>
        <p:nvSpPr>
          <p:cNvPr id="10" name="s11-b04"/>
          <p:cNvSpPr txBox="1"/>
          <p:nvPr/>
        </p:nvSpPr>
        <p:spPr>
          <a:xfrm>
            <a:off x="4892040" y="2845308"/>
            <a:ext cx="64008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include </a:t>
            </a:r>
            <a:pPr indent="0" marL="0">
              <a:buNone/>
            </a:pPr>
            <a:r>
              <a:rPr lang="en-US" sz="1800" b="1" dirty="0">
                <a:solidFill>
                  <a:srgbClr val="8F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MGNREGA</a:t>
            </a:r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800" b="1" dirty="0">
                <a:solidFill>
                  <a:srgbClr val="8F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PMAY</a:t>
            </a:r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(housing), </a:t>
            </a:r>
            <a:pPr indent="0" marL="0">
              <a:buNone/>
            </a:pPr>
            <a:r>
              <a:rPr lang="en-US" sz="1800" b="1" dirty="0">
                <a:solidFill>
                  <a:srgbClr val="8F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Ayushman Bharat / PM-JAY</a:t>
            </a:r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(eligible health coverage), and </a:t>
            </a:r>
            <a:pPr indent="0" marL="0">
              <a:buNone/>
            </a:pPr>
            <a:r>
              <a:rPr lang="en-US" sz="1800" b="1" dirty="0">
                <a:solidFill>
                  <a:srgbClr val="8F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PM-KISAN</a:t>
            </a:r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(eligible farmers).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0" y="4299204"/>
            <a:ext cx="128016" cy="128016"/>
          </a:xfrm>
          <a:prstGeom prst="ellipse">
            <a:avLst/>
          </a:prstGeom>
          <a:solidFill>
            <a:srgbClr val="B96548"/>
          </a:solidFill>
          <a:ln w="12700">
            <a:solidFill>
              <a:srgbClr val="B96548"/>
            </a:solidFill>
            <a:prstDash val="solid"/>
          </a:ln>
        </p:spPr>
      </p:sp>
      <p:sp>
        <p:nvSpPr>
          <p:cNvPr id="12" name="s11-b05"/>
          <p:cNvSpPr txBox="1"/>
          <p:nvPr/>
        </p:nvSpPr>
        <p:spPr>
          <a:xfrm>
            <a:off x="4892040" y="4207764"/>
            <a:ext cx="6400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schemes may support eligible students.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72000" y="5058156"/>
            <a:ext cx="128016" cy="128016"/>
          </a:xfrm>
          <a:prstGeom prst="ellipse">
            <a:avLst/>
          </a:prstGeom>
          <a:solidFill>
            <a:srgbClr val="B96548"/>
          </a:solidFill>
          <a:ln w="12700">
            <a:solidFill>
              <a:srgbClr val="B96548"/>
            </a:solidFill>
            <a:prstDash val="solid"/>
          </a:ln>
        </p:spPr>
      </p:sp>
      <p:sp>
        <p:nvSpPr>
          <p:cNvPr id="14" name="s11-b06"/>
          <p:cNvSpPr txBox="1"/>
          <p:nvPr/>
        </p:nvSpPr>
        <p:spPr>
          <a:xfrm>
            <a:off x="4892040" y="4966716"/>
            <a:ext cx="64008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and eligibility rules vary; confirm current details with official state portals, relevant departments, or local government service centres.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topographic contour lines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-2194560" y="1097280"/>
            <a:ext cx="6766560" cy="6766560"/>
          </a:xfrm>
          <a:prstGeom prst="rect">
            <a:avLst/>
          </a:prstGeom>
        </p:spPr>
      </p:pic>
      <p:pic>
        <p:nvPicPr>
          <p:cNvPr id="3" name="Image 1" descr="Decorative forest silhouet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97880"/>
            <a:ext cx="12191695" cy="960120"/>
          </a:xfrm>
          <a:prstGeom prst="rect">
            <a:avLst/>
          </a:prstGeom>
        </p:spPr>
      </p:pic>
      <p:sp>
        <p:nvSpPr>
          <p:cNvPr id="4" name="Title 12"/>
          <p:cNvSpPr txBox="1"/>
          <p:nvPr/>
        </p:nvSpPr>
        <p:spPr>
          <a:xfrm>
            <a:off x="640080" y="26517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6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5" name="Shape 1"/>
          <p:cNvSpPr/>
          <p:nvPr/>
        </p:nvSpPr>
        <p:spPr>
          <a:xfrm>
            <a:off x="640080" y="3611880"/>
            <a:ext cx="731520" cy="45720"/>
          </a:xfrm>
          <a:prstGeom prst="rect">
            <a:avLst/>
          </a:prstGeom>
          <a:solidFill>
            <a:srgbClr val="C3A56B"/>
          </a:solidFill>
          <a:ln w="12700">
            <a:solidFill>
              <a:srgbClr val="C3A56B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212080" y="825246"/>
            <a:ext cx="128016" cy="128016"/>
          </a:xfrm>
          <a:prstGeom prst="ellipse">
            <a:avLst/>
          </a:prstGeom>
          <a:solidFill>
            <a:srgbClr val="C3A56B"/>
          </a:solidFill>
          <a:ln w="12700">
            <a:solidFill>
              <a:srgbClr val="C3A56B"/>
            </a:solidFill>
            <a:prstDash val="solid"/>
          </a:ln>
        </p:spPr>
      </p:sp>
      <p:sp>
        <p:nvSpPr>
          <p:cNvPr id="7" name="s12-b03"/>
          <p:cNvSpPr txBox="1"/>
          <p:nvPr/>
        </p:nvSpPr>
        <p:spPr>
          <a:xfrm>
            <a:off x="5577840" y="733806"/>
            <a:ext cx="5852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6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Chhattisgarh has strengths in agriculture, forests, minerals, energy, industry, and cultural heritage.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5212080" y="2370582"/>
            <a:ext cx="128016" cy="128016"/>
          </a:xfrm>
          <a:prstGeom prst="ellipse">
            <a:avLst/>
          </a:prstGeom>
          <a:solidFill>
            <a:srgbClr val="C3A56B"/>
          </a:solidFill>
          <a:ln w="12700">
            <a:solidFill>
              <a:srgbClr val="C3A56B"/>
            </a:solidFill>
            <a:prstDash val="solid"/>
          </a:ln>
        </p:spPr>
      </p:sp>
      <p:sp>
        <p:nvSpPr>
          <p:cNvPr id="9" name="s12-b04"/>
          <p:cNvSpPr txBox="1"/>
          <p:nvPr/>
        </p:nvSpPr>
        <p:spPr>
          <a:xfrm>
            <a:off x="5577840" y="2279142"/>
            <a:ext cx="5852160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6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resources create opportunities for inclusive economic and social development.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5212080" y="3547110"/>
            <a:ext cx="128016" cy="128016"/>
          </a:xfrm>
          <a:prstGeom prst="ellipse">
            <a:avLst/>
          </a:prstGeom>
          <a:solidFill>
            <a:srgbClr val="C3A56B"/>
          </a:solidFill>
          <a:ln w="12700">
            <a:solidFill>
              <a:srgbClr val="C3A56B"/>
            </a:solidFill>
            <a:prstDash val="solid"/>
          </a:ln>
        </p:spPr>
      </p:sp>
      <p:sp>
        <p:nvSpPr>
          <p:cNvPr id="11" name="s12-b05"/>
          <p:cNvSpPr txBox="1"/>
          <p:nvPr/>
        </p:nvSpPr>
        <p:spPr>
          <a:xfrm>
            <a:off x="5577840" y="3455670"/>
            <a:ext cx="585216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D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progress can be strengthened through practical innovation, better public amenities, environmental protection, quality education, and healthcare access.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212080" y="4840986"/>
            <a:ext cx="128016" cy="128016"/>
          </a:xfrm>
          <a:prstGeom prst="ellipse">
            <a:avLst/>
          </a:prstGeom>
          <a:solidFill>
            <a:srgbClr val="C3A56B"/>
          </a:solidFill>
          <a:ln w="12700">
            <a:solidFill>
              <a:srgbClr val="C3A56B"/>
            </a:solidFill>
            <a:prstDash val="solid"/>
          </a:ln>
        </p:spPr>
      </p:sp>
      <p:sp>
        <p:nvSpPr>
          <p:cNvPr id="13" name="s12-b06"/>
          <p:cNvSpPr txBox="1"/>
          <p:nvPr/>
        </p:nvSpPr>
        <p:spPr>
          <a:xfrm>
            <a:off x="5577840" y="4749546"/>
            <a:ext cx="5852160" cy="64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D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opportunities for rural and tribal communities are essential for balanced development.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7B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 FORMAL SURVEY REPORT  •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73D32"/>
          </a:solidFill>
          <a:ln w="12700">
            <a:solidFill>
              <a:srgbClr val="173D32"/>
            </a:solidFill>
            <a:prstDash val="solid"/>
          </a:ln>
        </p:spPr>
      </p:sp>
      <p:pic>
        <p:nvPicPr>
          <p:cNvPr id="3" name="Image 0" descr="Decorative topographic contour lines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-1280160" y="2834640"/>
            <a:ext cx="6766560" cy="6766560"/>
          </a:xfrm>
          <a:prstGeom prst="rect">
            <a:avLst/>
          </a:prstGeom>
        </p:spPr>
      </p:pic>
      <p:sp>
        <p:nvSpPr>
          <p:cNvPr id="4" name="Title 13"/>
          <p:cNvSpPr txBox="1"/>
          <p:nvPr/>
        </p:nvSpPr>
        <p:spPr>
          <a:xfrm>
            <a:off x="457200" y="6400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6F2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REMARKS / FIELD OBSERVATIONS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2331720"/>
            <a:ext cx="731520" cy="45720"/>
          </a:xfrm>
          <a:prstGeom prst="rect">
            <a:avLst/>
          </a:prstGeom>
          <a:solidFill>
            <a:srgbClr val="C3A56B"/>
          </a:solidFill>
          <a:ln w="12700">
            <a:solidFill>
              <a:srgbClr val="C3A5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2606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3A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review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263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7B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 FORMAL SURVEY REPORT  •  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0" y="1569720"/>
            <a:ext cx="128016" cy="128016"/>
          </a:xfrm>
          <a:prstGeom prst="ellipse">
            <a:avLst/>
          </a:prstGeom>
          <a:solidFill>
            <a:srgbClr val="B96548"/>
          </a:solidFill>
          <a:ln w="12700">
            <a:solidFill>
              <a:srgbClr val="B96548"/>
            </a:solidFill>
            <a:prstDash val="solid"/>
          </a:ln>
        </p:spPr>
      </p:sp>
      <p:sp>
        <p:nvSpPr>
          <p:cNvPr id="9" name="s13-b04"/>
          <p:cNvSpPr txBox="1"/>
          <p:nvPr/>
        </p:nvSpPr>
        <p:spPr>
          <a:xfrm>
            <a:off x="4892040" y="1478280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presents a general survey of Chhattisgarh using the topics specified for the academic assignment.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0" y="2566416"/>
            <a:ext cx="128016" cy="128016"/>
          </a:xfrm>
          <a:prstGeom prst="ellipse">
            <a:avLst/>
          </a:prstGeom>
          <a:solidFill>
            <a:srgbClr val="B96548"/>
          </a:solidFill>
          <a:ln w="12700">
            <a:solidFill>
              <a:srgbClr val="B96548"/>
            </a:solidFill>
            <a:prstDash val="solid"/>
          </a:ln>
        </p:spPr>
      </p:sp>
      <p:sp>
        <p:nvSpPr>
          <p:cNvPr id="11" name="s13-b05"/>
          <p:cNvSpPr txBox="1"/>
          <p:nvPr/>
        </p:nvSpPr>
        <p:spPr>
          <a:xfrm>
            <a:off x="4892040" y="2474976"/>
            <a:ext cx="64008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submission, add current local photographs and confirm the latest statistics and scheme details from official sources.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572000" y="3864864"/>
            <a:ext cx="128016" cy="128016"/>
          </a:xfrm>
          <a:prstGeom prst="ellipse">
            <a:avLst/>
          </a:prstGeom>
          <a:solidFill>
            <a:srgbClr val="B96548"/>
          </a:solidFill>
          <a:ln w="12700">
            <a:solidFill>
              <a:srgbClr val="B96548"/>
            </a:solidFill>
            <a:prstDash val="solid"/>
          </a:ln>
        </p:spPr>
      </p:sp>
      <p:sp>
        <p:nvSpPr>
          <p:cNvPr id="13" name="s13-b06"/>
          <p:cNvSpPr txBox="1"/>
          <p:nvPr/>
        </p:nvSpPr>
        <p:spPr>
          <a:xfrm>
            <a:off x="4892040" y="3773424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any field-survey observations required by the teacher.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572000" y="4861560"/>
            <a:ext cx="128016" cy="128016"/>
          </a:xfrm>
          <a:prstGeom prst="ellipse">
            <a:avLst/>
          </a:prstGeom>
          <a:solidFill>
            <a:srgbClr val="B96548"/>
          </a:solidFill>
          <a:ln w="12700">
            <a:solidFill>
              <a:srgbClr val="B96548"/>
            </a:solidFill>
            <a:prstDash val="solid"/>
          </a:ln>
        </p:spPr>
      </p:sp>
      <p:sp>
        <p:nvSpPr>
          <p:cNvPr id="15" name="s13-b07"/>
          <p:cNvSpPr txBox="1"/>
          <p:nvPr/>
        </p:nvSpPr>
        <p:spPr>
          <a:xfrm>
            <a:off x="4892040" y="4770120"/>
            <a:ext cx="6400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remarks / field observations:</a:t>
            </a:r>
            <a:pPr indent="0" marL="0">
              <a:buNone/>
            </a:pPr>
            <a:r>
              <a:rPr lang="en-US" sz="1600" dirty="0">
                <a:solidFill>
                  <a:srgbClr val="30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______________________________________________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hattisgarh Editorial">
  <a:themeElements>
    <a:clrScheme name="Chhattisgarh Editorial">
      <a:dk1>
        <a:srgbClr val="303B37"/>
      </a:dk1>
      <a:lt1>
        <a:srgbClr val="FFFCF6"/>
      </a:lt1>
      <a:dk2>
        <a:srgbClr val="173D32"/>
      </a:dk2>
      <a:lt2>
        <a:srgbClr val="F6F2E9"/>
      </a:lt2>
      <a:accent1>
        <a:srgbClr val="173D32"/>
      </a:accent1>
      <a:accent2>
        <a:srgbClr val="B96548"/>
      </a:accent2>
      <a:accent3>
        <a:srgbClr val="C3A56B"/>
      </a:accent3>
      <a:accent4>
        <a:srgbClr val="A7B6A0"/>
      </a:accent4>
      <a:accent5>
        <a:srgbClr val="102C26"/>
      </a:accent5>
      <a:accent6>
        <a:srgbClr val="8F4630"/>
      </a:accent6>
      <a:hlink>
        <a:srgbClr val="8F4630"/>
      </a:hlink>
      <a:folHlink>
        <a:srgbClr val="7D6228"/>
      </a:folHlink>
    </a:clrScheme>
    <a:fontScheme name="Chhattisgarh Editorial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Chhattisgarh Formal Survey Report — redesigned</dc:title>
  <dc:subject>PptxGenJS Presentation</dc:subject>
  <dc:creator>PptxGenJS</dc:creator>
  <cp:lastModifiedBy>PptxGenJS</cp:lastModifiedBy>
  <cp:revision>1</cp:revision>
  <dcterms:created xsi:type="dcterms:W3CDTF">2026-10-16T03:48:59Z</dcterms:created>
  <dcterms:modified xsi:type="dcterms:W3CDTF">2026-10-16T03:48:59Z</dcterms:modified>
</cp:coreProperties>
</file>